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d2ece504fb4e80" /><Relationship Type="http://schemas.openxmlformats.org/officeDocument/2006/relationships/extended-properties" Target="/docProps/app.xml" Id="R659875e104154f2d" /><Relationship Type="http://schemas.openxmlformats.org/officeDocument/2006/relationships/officeDocument" Target="/ppt/presentation.xml" Id="R19fb1bdff4ea4b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7f726dee3b4d47"/>
  </p:sldMasterIdLst>
  <p:notesMasterIdLst>
    <p:notesMasterId xmlns:r="http://schemas.openxmlformats.org/officeDocument/2006/relationships" r:id="R24eaf41b74344b03"/>
  </p:notesMasterIdLst>
  <p:sldIdLst>
    <p:sldId xmlns:r="http://schemas.openxmlformats.org/officeDocument/2006/relationships" id="256" r:id="Rf67aaa11d7b446fb"/>
    <p:sldId xmlns:r="http://schemas.openxmlformats.org/officeDocument/2006/relationships" id="257" r:id="Rddb889407fb14385"/>
    <p:sldId xmlns:r="http://schemas.openxmlformats.org/officeDocument/2006/relationships" id="258" r:id="R47642589acc0483f"/>
    <p:sldId xmlns:r="http://schemas.openxmlformats.org/officeDocument/2006/relationships" id="259" r:id="Rff0e5d1099c04a65"/>
    <p:sldId xmlns:r="http://schemas.openxmlformats.org/officeDocument/2006/relationships" id="260" r:id="Ra90bff5d702f415d"/>
    <p:sldId xmlns:r="http://schemas.openxmlformats.org/officeDocument/2006/relationships" id="261" r:id="Rfa424964ec2746d5"/>
    <p:sldId xmlns:r="http://schemas.openxmlformats.org/officeDocument/2006/relationships" id="262" r:id="R5d242a3f3daf4458"/>
    <p:sldId xmlns:r="http://schemas.openxmlformats.org/officeDocument/2006/relationships" id="263" r:id="R4ef5dbcd35e0423f"/>
    <p:sldId xmlns:r="http://schemas.openxmlformats.org/officeDocument/2006/relationships" id="264" r:id="Re97ddeaa0ade49d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9b2eb441804663" /><Relationship Type="http://schemas.openxmlformats.org/officeDocument/2006/relationships/slideMaster" Target="/ppt/slideMasters/slideMaster1.xml" Id="Ra77f726dee3b4d47" /><Relationship Type="http://schemas.openxmlformats.org/officeDocument/2006/relationships/notesMaster" Target="/ppt/notesMasters/notesMaster1.xml" Id="R24eaf41b74344b03" /><Relationship Type="http://schemas.openxmlformats.org/officeDocument/2006/relationships/presProps" Target="/ppt/presProps.xml" Id="R76e609b59ca944b7" /><Relationship Type="http://schemas.openxmlformats.org/officeDocument/2006/relationships/tableStyles" Target="/ppt/tableStyles.xml" Id="R5a35842db80a47fa" /><Relationship Type="http://schemas.openxmlformats.org/officeDocument/2006/relationships/slide" Target="/ppt/slides/slide1.xml" Id="Rf67aaa11d7b446fb" /><Relationship Type="http://schemas.openxmlformats.org/officeDocument/2006/relationships/slide" Target="/ppt/slides/slide2.xml" Id="Rddb889407fb14385" /><Relationship Type="http://schemas.openxmlformats.org/officeDocument/2006/relationships/slide" Target="/ppt/slides/slide3.xml" Id="R47642589acc0483f" /><Relationship Type="http://schemas.openxmlformats.org/officeDocument/2006/relationships/slide" Target="/ppt/slides/slide4.xml" Id="Rff0e5d1099c04a65" /><Relationship Type="http://schemas.openxmlformats.org/officeDocument/2006/relationships/slide" Target="/ppt/slides/slide5.xml" Id="Ra90bff5d702f415d" /><Relationship Type="http://schemas.openxmlformats.org/officeDocument/2006/relationships/slide" Target="/ppt/slides/slide6.xml" Id="Rfa424964ec2746d5" /><Relationship Type="http://schemas.openxmlformats.org/officeDocument/2006/relationships/slide" Target="/ppt/slides/slide7.xml" Id="R5d242a3f3daf4458" /><Relationship Type="http://schemas.openxmlformats.org/officeDocument/2006/relationships/slide" Target="/ppt/slides/slide8.xml" Id="R4ef5dbcd35e0423f" /><Relationship Type="http://schemas.openxmlformats.org/officeDocument/2006/relationships/slide" Target="/ppt/slides/slide9.xml" Id="Re97ddeaa0ade49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e62e6ae7e744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b4fcf820e14d7e" /><Relationship Type="http://schemas.openxmlformats.org/officeDocument/2006/relationships/notesMaster" Target="/ppt/notesMasters/notesMaster1.xml" Id="R8849aa342f8143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8a4def2f5848ee" /><Relationship Type="http://schemas.openxmlformats.org/officeDocument/2006/relationships/notesMaster" Target="/ppt/notesMasters/notesMaster1.xml" Id="Rd64944e1a6a94e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23717e28294958" /><Relationship Type="http://schemas.openxmlformats.org/officeDocument/2006/relationships/notesMaster" Target="/ppt/notesMasters/notesMaster1.xml" Id="R83a8bdb1d11440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d1d0dd0c2449ba" /><Relationship Type="http://schemas.openxmlformats.org/officeDocument/2006/relationships/notesMaster" Target="/ppt/notesMasters/notesMaster1.xml" Id="R5b77eea17b774b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83ee496438486c" /><Relationship Type="http://schemas.openxmlformats.org/officeDocument/2006/relationships/notesMaster" Target="/ppt/notesMasters/notesMaster1.xml" Id="Rf5587e68f0de4a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d5931ffa6b4000" /><Relationship Type="http://schemas.openxmlformats.org/officeDocument/2006/relationships/notesMaster" Target="/ppt/notesMasters/notesMaster1.xml" Id="R8f7c232b39684a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4a34b44dbb485f" /><Relationship Type="http://schemas.openxmlformats.org/officeDocument/2006/relationships/notesMaster" Target="/ppt/notesMasters/notesMaster1.xml" Id="R9dd97d7923b64e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193c0d49da4a4d" /><Relationship Type="http://schemas.openxmlformats.org/officeDocument/2006/relationships/notesMaster" Target="/ppt/notesMasters/notesMaster1.xml" Id="R679b1f7d8c8d46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ed71bf9a3a4493" /><Relationship Type="http://schemas.openxmlformats.org/officeDocument/2006/relationships/notesMaster" Target="/ppt/notesMasters/notesMaster1.xml" Id="Rfbb7c010f6494b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c241a9890343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1bc4cd681b4c20" /><Relationship Type="http://schemas.openxmlformats.org/officeDocument/2006/relationships/slideLayout" Target="/ppt/slideLayouts/slideLayout1.xml" Id="R660d00ebc7b446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0d00ebc7b446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1d4f9819742a2" /><Relationship Type="http://schemas.openxmlformats.org/officeDocument/2006/relationships/image" Target="/ppt/media/image.png" Id="Rc5ba7c0773df471b" /><Relationship Type="http://schemas.openxmlformats.org/officeDocument/2006/relationships/notesSlide" Target="/ppt/notesSlides/notesSlide1.xml" Id="R6131ca7c4cab47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2b7d82fa24c3a" /><Relationship Type="http://schemas.openxmlformats.org/officeDocument/2006/relationships/notesSlide" Target="/ppt/notesSlides/notesSlide2.xml" Id="R2d3fee25f4c445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71aa388964d18" /><Relationship Type="http://schemas.openxmlformats.org/officeDocument/2006/relationships/chart" Target="/ppt/slides/charts/chart1.xml" Id="R8b0354d9e945414a" /><Relationship Type="http://schemas.openxmlformats.org/officeDocument/2006/relationships/notesSlide" Target="/ppt/notesSlides/notesSlide3.xml" Id="R35a4ea7d987e47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90606456b4ead" /><Relationship Type="http://schemas.openxmlformats.org/officeDocument/2006/relationships/chart" Target="/ppt/slides/charts/chart2.xml" Id="Rd72219e05c164294" /><Relationship Type="http://schemas.openxmlformats.org/officeDocument/2006/relationships/notesSlide" Target="/ppt/notesSlides/notesSlide4.xml" Id="R94762c6cd13941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a4ecffe73490e" /><Relationship Type="http://schemas.openxmlformats.org/officeDocument/2006/relationships/image" Target="/ppt/media/image2.png" Id="R3ac8df8d2687449b" /><Relationship Type="http://schemas.openxmlformats.org/officeDocument/2006/relationships/notesSlide" Target="/ppt/notesSlides/notesSlide5.xml" Id="R380021e604cc4d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720b5f3e74229" /><Relationship Type="http://schemas.openxmlformats.org/officeDocument/2006/relationships/chart" Target="/ppt/slides/charts/chart3.xml" Id="R1a6975bc5ccf4f4f" /><Relationship Type="http://schemas.openxmlformats.org/officeDocument/2006/relationships/notesSlide" Target="/ppt/notesSlides/notesSlide6.xml" Id="R573b3bc5019d4f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4cdc0867b4554" /><Relationship Type="http://schemas.openxmlformats.org/officeDocument/2006/relationships/notesSlide" Target="/ppt/notesSlides/notesSlide7.xml" Id="R5b757f30dc6b4f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a3fa9bb794999" /><Relationship Type="http://schemas.openxmlformats.org/officeDocument/2006/relationships/notesSlide" Target="/ppt/notesSlides/notesSlide8.xml" Id="R833a399d5d4546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6a554691a49a1" /><Relationship Type="http://schemas.openxmlformats.org/officeDocument/2006/relationships/notesSlide" Target="/ppt/notesSlides/notesSlide9.xml" Id="Rf1f8b656e757462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post-capture rate</c:v>
          </c:tx>
          <c:spPr>
            <a:solidFill xmlns:a="http://schemas.openxmlformats.org/drawingml/2006/main">
              <a:srgbClr val="2176FF"/>
            </a:solidFill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General</c:formatCode>
              <c:ptCount val="3"/>
              <c:pt idx="0">
                <c:v>0.2312020898</c:v>
              </c:pt>
              <c:pt idx="1">
                <c:v>3.0633304946</c:v>
              </c:pt>
              <c:pt idx="2">
                <c:v>1.9732374251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7F9F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5"/>
      </c:valAx>
      <c:spPr>
        <a:noFill xmlns:a="http://schemas.openxmlformats.org/drawingml/2006/main"/>
        <a:ln xmlns:a="http://schemas.openxmlformats.org/drawingml/2006/main" w="0">
          <a:solidFill>
            <a:srgbClr val="F7F9FC"/>
          </a:solidFill>
          <a:prstDash val="solid"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solidFill>
        <a:srgbClr val="F7F9F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rate</c:v>
          </c:tx>
          <c:spPr>
            <a:solidFill xmlns:a="http://schemas.openxmlformats.org/drawingml/2006/main">
              <a:srgbClr val="18A999"/>
            </a:solidFill>
          </c:spPr>
          <c:cat>
            <c:strLit>
              <c:ptCount val="3"/>
              <c:pt idx="0">
                <c:v>目标初始</c:v>
              </c:pt>
              <c:pt idx="1">
                <c:v>捕获后</c:v>
              </c:pt>
              <c:pt idx="2">
                <c:v>Gate</c:v>
              </c:pt>
            </c:strLit>
          </c:cat>
          <c:val>
            <c:numLit>
              <c:formatCode>General</c:formatCode>
              <c:ptCount val="3"/>
              <c:pt idx="0">
                <c:v>0.5</c:v>
              </c:pt>
              <c:pt idx="1">
                <c:v>0.2312020898</c:v>
              </c:pt>
              <c:pt idx="2">
                <c:v>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wheel margin</c:v>
          </c:tx>
          <c:spPr>
            <a:solidFill xmlns:a="http://schemas.openxmlformats.org/drawingml/2006/main">
              <a:srgbClr val="F2A93B"/>
            </a:solidFill>
          </c:spPr>
          <c:invertIfNegative val="0"/>
          <c:cat>
            <c:strLit>
              <c:ptCount val="4"/>
              <c:pt idx="0">
                <c:v>S1</c:v>
              </c:pt>
              <c:pt idx="1">
                <c:v>S2</c:v>
              </c:pt>
              <c:pt idx="2">
                <c:v>S3a</c:v>
              </c:pt>
              <c:pt idx="3">
                <c:v>S4</c:v>
              </c:pt>
            </c:strLit>
          </c:cat>
          <c:val>
            <c:numLit>
              <c:formatCode>General</c:formatCode>
              <c:ptCount val="4"/>
              <c:pt idx="0">
                <c:v>-0.068886</c:v>
              </c:pt>
              <c:pt idx="1">
                <c:v>-0.323015</c:v>
              </c:pt>
              <c:pt idx="2">
                <c:v>0.231114</c:v>
              </c:pt>
              <c:pt idx="3">
                <c:v>-0.068886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3"/>
          <c:min val="-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804564-8A09-4845-9E5B-67AD7AB0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163B3-26AD-4991-AE91-943329A5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5143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76FF"/>
                </a:solidFill>
                <a:latin typeface="Microsoft YaHei"/>
                <a:ea typeface="Microsoft YaHei"/>
                <a:cs typeface="Microsoft YaHei"/>
              </a:defRPr>
            </a:pPr>
            <a:r>
              <a:t>中国研究生未来飞行器创新大赛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25BE1-2EC7-4ACD-A8D9-08A5104C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5334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任务智能离线证据演示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E9F08-DB6E-4C98-A027-8855C819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09950"/>
            <a:ext cx="50958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Verified physics → strategy → safety → attitude/resource explanation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14BFC-2CBD-4495-9BD9-871596F0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33900"/>
            <a:ext cx="4000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76FF"/>
                </a:solidFill>
                <a:latin typeface="Microsoft YaHei"/>
                <a:ea typeface="Microsoft YaHei"/>
                <a:cs typeface="Microsoft YaHei"/>
              </a:defRPr>
            </a:pPr>
            <a:r>
              <a:t>OFFLINE EVIDENCE REPLAY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7EC82-21E7-4EA3-A3E8-0AB5C545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4857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NO REAL-TIME SYNCHRONIZATION  ·  NO COMMAND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D16BA-1FD7-40BE-A9ED-0DCC4A4F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0050"/>
            <a:ext cx="55054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D7C7F-1D5E-4F8F-8F86-329BF8D7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724400"/>
            <a:ext cx="1676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396C7-1311-47B8-BEE0-15DBE1B9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724400"/>
            <a:ext cx="762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8FA34-1533-43FB-9799-B5021DF8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895850"/>
            <a:ext cx="1219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C13A2-CBAD-4A61-A6B8-FCEFB610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334000"/>
            <a:ext cx="1219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4211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EXECUTE
22 kg / 0.5°·s⁻¹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8CCDA-8CA9-4B6D-A9B7-BED323E1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24400"/>
            <a:ext cx="1676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FD321-304E-4194-859B-D764FA2B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24400"/>
            <a:ext cx="762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1D33A-3932-49E2-996C-958CA73C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95850"/>
            <a:ext cx="1219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1E0C90-F5AD-4BF4-9581-3E8A3DEF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334000"/>
            <a:ext cx="1219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17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ABORT
150 kg / 3°·s⁻¹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025C8-9C24-4163-BF21-17E53030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724400"/>
            <a:ext cx="1676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FA2E8-9C0C-4CC3-A9E2-28227F5A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724400"/>
            <a:ext cx="762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9AF78-0358-4A26-AA97-70A63C43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895850"/>
            <a:ext cx="1219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32F197-607D-413A-A275-271F756F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334000"/>
            <a:ext cx="1219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3134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MODIFY
transition region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0EFFC2-559D-409F-84FF-14D97831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5715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8390A0"/>
                </a:solidFill>
                <a:latin typeface="Microsoft YaHei"/>
                <a:ea typeface="Microsoft YaHei"/>
                <a:cs typeface="Microsoft YaHei"/>
              </a:defRPr>
            </a:pPr>
            <a:r>
              <a:t>2026-07-20 · COMPETITION CONVERGENCE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a7c0773df471b"/>
          <a:stretch xmlns:a="http://schemas.openxmlformats.org/drawingml/2006/main"/>
        </p:blipFill>
        <p:spPr>
          <a:xfrm xmlns:a="http://schemas.openxmlformats.org/drawingml/2006/main">
            <a:off x="6510338" y="647700"/>
            <a:ext cx="4924425" cy="3581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71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F851E0-9B0A-419E-9CD2-81B215D8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FA6CE-306E-4B34-8617-994F5CB9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334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76FF"/>
                </a:solidFill>
                <a:latin typeface="Microsoft YaHei"/>
                <a:ea typeface="Microsoft YaHei"/>
                <a:cs typeface="Microsoft YaHei"/>
              </a:defRPr>
            </a:pPr>
            <a:r>
              <a:t>MISSION INTELLIGENCE / VERIFIED ARTIFACTS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80A13-22AD-4939-AB81-DAD9F6E7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从任务输入到可解释行动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552450" y="6229350"/>
            <a:ext cx="110871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E0EA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0F75A-344F-417C-B16E-B30EF2CF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00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OFFLINE EVIDENCE REPLAY  ·  NO REAL-TIME SYNCHRONIZATION  ·  NO COMMAND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0C92C-D1AA-4671-A460-333CA96A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28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16046-323D-4E81-9F01-0B4E058B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6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链条前进条件：唯一键、单位/参考系、原始 hash 与 stage binding 同时成立。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857250" y="3086100"/>
            <a:ext cx="10096500" cy="28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8E0EA"/>
            </a:solidFill>
            <a:prstDash val="solid"/>
          </a:ln>
        </p:spPr>
      </p:cxnSp>
      <p:sp>
        <p:nvSpPr>
          <p:cNvPr id="9" name="spine-dot-1">
            <a:extLst xmlns:a="http://schemas.openxmlformats.org/drawingml/2006/main">
              <a:ext uri="{FF2B5EF4-FFF2-40B4-BE49-F238E27FC236}">
                <a16:creationId xmlns:a16="http://schemas.microsoft.com/office/drawing/2014/main" id="{18105FD5-C6E9-48B1-9982-EDFE6642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DD65A-B165-4584-8158-3040FD31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333625"/>
            <a:ext cx="1314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80AF0-F864-4313-AC3C-BF8AA904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467100"/>
            <a:ext cx="14287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mass · rate
geometry</a:t>
            </a:r>
          </a:p>
        </p:txBody>
      </p:sp>
      <p:sp>
        <p:nvSpPr>
          <p:cNvPr id="12" name="spine-dot-2">
            <a:extLst xmlns:a="http://schemas.openxmlformats.org/drawingml/2006/main">
              <a:ext uri="{FF2B5EF4-FFF2-40B4-BE49-F238E27FC236}">
                <a16:creationId xmlns:a16="http://schemas.microsoft.com/office/drawing/2014/main" id="{BC04752D-76FA-4DEC-BA57-6A47A6B7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90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1DC83-E970-4E92-B5DB-0B89480F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33625"/>
            <a:ext cx="1314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SIM10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4AC55-9985-4DFE-917D-ABDC9726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467100"/>
            <a:ext cx="14287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可行域
四门 fail-closed</a:t>
            </a:r>
          </a:p>
        </p:txBody>
      </p:sp>
      <p:sp>
        <p:nvSpPr>
          <p:cNvPr id="15" name="spine-dot-3">
            <a:extLst xmlns:a="http://schemas.openxmlformats.org/drawingml/2006/main">
              <a:ext uri="{FF2B5EF4-FFF2-40B4-BE49-F238E27FC236}">
                <a16:creationId xmlns:a16="http://schemas.microsoft.com/office/drawing/2014/main" id="{D44455FC-745E-47CB-8DCE-1F6CAA29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90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F79624-9651-4943-A8DC-99B84969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33625"/>
            <a:ext cx="1314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SIM12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9744D-3BBA-4529-8981-618CB9B1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67100"/>
            <a:ext cx="14287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约束驱动
策略选择</a:t>
            </a:r>
          </a:p>
        </p:txBody>
      </p:sp>
      <p:sp>
        <p:nvSpPr>
          <p:cNvPr id="18" name="spine-dot-4">
            <a:extLst xmlns:a="http://schemas.openxmlformats.org/drawingml/2006/main">
              <a:ext uri="{FF2B5EF4-FFF2-40B4-BE49-F238E27FC236}">
                <a16:creationId xmlns:a16="http://schemas.microsoft.com/office/drawing/2014/main" id="{879BA8E5-4218-47C7-B051-1CCF1742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93121B-BCC5-4522-A126-C2A80751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33625"/>
            <a:ext cx="1314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SAFE-00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E690E1-CB74-4171-9724-E933B2A0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67100"/>
            <a:ext cx="14287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原生决策
保留 PENDING</a:t>
            </a:r>
          </a:p>
        </p:txBody>
      </p:sp>
      <p:sp>
        <p:nvSpPr>
          <p:cNvPr id="21" name="spine-dot-5">
            <a:extLst xmlns:a="http://schemas.openxmlformats.org/drawingml/2006/main">
              <a:ext uri="{FF2B5EF4-FFF2-40B4-BE49-F238E27FC236}">
                <a16:creationId xmlns:a16="http://schemas.microsoft.com/office/drawing/2014/main" id="{CC3832F3-F24B-4A7E-876F-6D3FFCD4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90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FD5719-0D89-4480-8D69-9A9CAAC4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33625"/>
            <a:ext cx="1314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CTRL-02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421801-B207-4153-850D-2354D0CB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67100"/>
            <a:ext cx="14287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姿态/资源
PROVISIONAL scope</a:t>
            </a:r>
          </a:p>
        </p:txBody>
      </p:sp>
      <p:sp>
        <p:nvSpPr>
          <p:cNvPr id="24" name="spine-dot-6">
            <a:extLst xmlns:a="http://schemas.openxmlformats.org/drawingml/2006/main">
              <a:ext uri="{FF2B5EF4-FFF2-40B4-BE49-F238E27FC236}">
                <a16:creationId xmlns:a16="http://schemas.microsoft.com/office/drawing/2014/main" id="{2F4A2A12-B918-43F5-96D5-2C83AAB5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90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5B2045-61B7-44A1-98A1-804F9382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33625"/>
            <a:ext cx="1314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离线回放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F0CD02-0B96-488A-BC1F-74FD8C1A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67100"/>
            <a:ext cx="14287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只读 hash
确定性重放</a:t>
            </a:r>
          </a:p>
        </p:txBody>
      </p:sp>
      <p:sp>
        <p:nvSpPr>
          <p:cNvPr id="27" name="spine-dot-7">
            <a:extLst xmlns:a="http://schemas.openxmlformats.org/drawingml/2006/main">
              <a:ext uri="{FF2B5EF4-FFF2-40B4-BE49-F238E27FC236}">
                <a16:creationId xmlns:a16="http://schemas.microsoft.com/office/drawing/2014/main" id="{3F04D3F2-D9B3-4430-9FBB-1B8D2B88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990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D7B994-E1DD-48CD-8FFA-2DD24BA3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33625"/>
            <a:ext cx="1314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行动解释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678254-3F68-4E4E-9A54-229BA7D5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467100"/>
            <a:ext cx="14287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EXECUTE
MODIFY / ABORT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76C818-BF2B-4CDC-9884-E9A1F65D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9525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86B07F-79C4-4C4D-BA46-D33ED8A5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F796DC-E103-49C1-93F5-D5F03DD9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33950"/>
            <a:ext cx="9067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Fail-closed 分支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461B5B-539B-481F-A675-869F4F76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72100"/>
            <a:ext cx="9067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68182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B：SIM10/SIM12 上游 ABORT，不创建 SAFE/CTRL 请求。
C：SAFE candidate 缺失；CTRL-02 REFERENCE_ONLY。UNKNOWN 永不 EXECUTE。</a:t>
            </a:r>
          </a:p>
        </p:txBody>
      </p:sp>
    </p:spTree>
    <p:extLst>
      <p:ext uri="{BB962C8B-B14F-4D97-AF65-F5344CB8AC3E}">
        <p14:creationId xmlns:p14="http://schemas.microsoft.com/office/powerpoint/2010/main" val="5448391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DD8B4C-0098-4666-9457-D0AD0EF3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4B1B9-084B-4D38-A629-8EC95D13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334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76FF"/>
                </a:solidFill>
                <a:latin typeface="Microsoft YaHei"/>
                <a:ea typeface="Microsoft YaHei"/>
                <a:cs typeface="Microsoft YaHei"/>
              </a:defRPr>
            </a:pPr>
            <a:r>
              <a:t>MISSION INTELLIGENCE / VERIFIED ARTIFACTS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7DA58-803D-4DAC-98A0-B93791B2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三场景冻结：执行、终止、修改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552450" y="6229350"/>
            <a:ext cx="110871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E0EA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D5BB4-ABE7-4E7B-A8B5-44D2CFD5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00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OFFLINE EVIDENCE REPLAY  ·  NO REAL-TIME SYNCHRONIZATION  ·  NO COMMAND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EF1A1-1A3F-4659-AA96-C44F5F73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28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9EFDB-2AF0-4985-B160-930FC9CB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52197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7FC45-5C9D-4E8F-B945-ACB32F32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76200" cy="1409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3F51F-B9CE-4C83-8B3A-F1551793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52575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A · EXECUTE（解释层）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708E6-7003-472A-8070-89CE2CAD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90725"/>
            <a:ext cx="4762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22 kg，0.5°·s⁻¹；S1_passive 最优；SAFE exact candidate。command_emitted=false。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CFFC3-F1FB-4214-9F67-9231F141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52197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5BC91-DFB7-49AB-87E7-4812C7D4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76200" cy="1409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786F7-18E5-4974-B128-EE3B25F2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71825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B · ABORT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94A8C-9D6D-41CB-936E-E78FA232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09975"/>
            <a:ext cx="4762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150 kg，3°·s⁻¹；捕获后 3.063°·s⁻¹ &gt; 2.0°·s⁻¹，所有策略不可行。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3447E1-5E9E-47DA-825F-417B0ACC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19625"/>
            <a:ext cx="52197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B382E3-CFFB-4412-A4C3-C93EF9C4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19625"/>
            <a:ext cx="76200" cy="1409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AEF905-CFE2-417A-8F04-0FEA77AD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91075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C · MODIFY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CE7E9-CC34-4FB4-81CF-AFF41CE8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29225"/>
            <a:ext cx="4762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S1 受 WHEEL_MOMENTUM 约束；S3a 可行。SAFE candidate 缺失，未获执行授权。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3A3118-EC97-4ABA-80AF-B2AE01DA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捕获后角速度（°·s⁻¹）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5B3297-4A44-471E-8CB6-87F3D133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4C4C"/>
                </a:solidFill>
                <a:latin typeface="Microsoft YaHei"/>
                <a:ea typeface="Microsoft YaHei"/>
                <a:cs typeface="Microsoft YaHei"/>
              </a:defRPr>
            </a:pPr>
            <a:r>
              <a:t>冻结阈值：2.0°·s⁻¹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647700" y="1790700"/>
          <a:ext xmlns:a="http://schemas.openxmlformats.org/drawingml/2006/main" cx="5095875" cy="3676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0354d9e945414a"/>
          </a:graphicData>
        </a:graphic>
      </p:graphicFrame>
    </p:spTree>
    <p:extLst>
      <p:ext uri="{BB962C8B-B14F-4D97-AF65-F5344CB8AC3E}">
        <p14:creationId xmlns:p14="http://schemas.microsoft.com/office/powerpoint/2010/main" val="1603536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3E7D1-C469-4676-B4AC-F347B10A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EAF3A-CF05-4C13-969E-52F15F94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334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76FF"/>
                </a:solidFill>
                <a:latin typeface="Microsoft YaHei"/>
                <a:ea typeface="Microsoft YaHei"/>
                <a:cs typeface="Microsoft YaHei"/>
              </a:defRPr>
            </a:pPr>
            <a:r>
              <a:t>MISSION INTELLIGENCE / VERIFIED ARTIFACTS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B1CC9-0F56-471B-BC2A-C913C734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场景 A：22 kg 低速目标 → EXECUTE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552450" y="6229350"/>
            <a:ext cx="110871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E0EA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6287A-FB23-46FC-BAC4-B9BCC60D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00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OFFLINE EVIDENCE REPLAY  ·  NO REAL-TIME SYNCHRONIZATION  ·  NO COMMAND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BD4C4-2DB3-4B23-B432-184E3040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28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F7443-CB35-4AA7-B52F-9FF8D9AF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546735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38AFE-14F8-4B3F-8D86-431F65AF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速率账本（°·s⁻¹）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7A419-4072-4444-B096-781EE865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762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8B57"/>
                </a:solidFill>
                <a:latin typeface="Microsoft YaHei"/>
                <a:ea typeface="Microsoft YaHei"/>
                <a:cs typeface="Microsoft YaHei"/>
              </a:defRPr>
            </a:pPr>
            <a:r>
              <a:t>EXECUTE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FA07A-F394-4A3B-A27C-A9F58A7C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7625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这是离线解释动作，不是执行命令。S1_passive 可行且为最优；SAFE-00 exact candidate 已绑定。
PENDING_REVIEW · next_stage_authorized=false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03DEE-8766-4569-AFB8-6FEBDD11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21907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995DA-FAA5-4054-803A-F1B98A6E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76200" cy="15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111AD-BAC9-4521-86EC-C2AB6B28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71950"/>
            <a:ext cx="1733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S1_passive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A6EA04-D503-4201-9244-80748BCB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10100"/>
            <a:ext cx="17335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607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SIM12 best strategy
binding gate: NONE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994405-C3AE-476C-AFEB-845AFCE2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00500"/>
            <a:ext cx="23050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0D5151-74E9-4840-A780-9FBA5E3D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00500"/>
            <a:ext cx="76200" cy="15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7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5A8F2-D8E3-42D5-8428-362A3570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71950"/>
            <a:ext cx="1847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SAFE exact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2DC606-CD35-4F88-9C45-973B2D02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10100"/>
            <a:ext cx="18478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native decision preserved
command=false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DBA2E5-5A81-40A7-8CCA-4ECA2C05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43575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722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t>PROVISIONAL FLEX · PENDING_REVIEW · NO COMMAND OUTPUT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800100" y="2038350"/>
          <a:ext xmlns:a="http://schemas.openxmlformats.org/drawingml/2006/main" cx="4857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2219e05c164294"/>
          </a:graphicData>
        </a:graphic>
      </p:graphicFrame>
    </p:spTree>
    <p:extLst>
      <p:ext uri="{BB962C8B-B14F-4D97-AF65-F5344CB8AC3E}">
        <p14:creationId xmlns:p14="http://schemas.microsoft.com/office/powerpoint/2010/main" val="17078521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3D2CAB-C64F-41A4-A6B7-5A0AA88D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C299E-6D2A-4186-9EE7-3E4B0F7A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334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76FF"/>
                </a:solidFill>
                <a:latin typeface="Microsoft YaHei"/>
                <a:ea typeface="Microsoft YaHei"/>
                <a:cs typeface="Microsoft YaHei"/>
              </a:defRPr>
            </a:pPr>
            <a:r>
              <a:t>MISSION INTELLIGENCE / VERIFIED ARTIFACTS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736F7-A3E4-4132-8092-287AD7AE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场景 B：150 kg / 3°·s⁻¹ → ABORT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552450" y="6229350"/>
            <a:ext cx="110871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E0EA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DE375-9CF2-414E-AD3B-1CB68D54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00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OFFLINE EVIDENCE REPLAY  ·  NO REAL-TIME SYNCHRONIZATION  ·  NO COMMAND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1EE39-E6D2-4087-A34F-5E6ECE1B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28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AFAF0-E52C-4D75-AADC-C6C2CD84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4572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D94C4C"/>
                </a:solidFill>
                <a:latin typeface="Microsoft YaHei"/>
                <a:ea typeface="Microsoft YaHei"/>
                <a:cs typeface="Microsoft YaHei"/>
              </a:defRPr>
            </a:pPr>
            <a:r>
              <a:t>ABORT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CD55A-560A-437D-A4BE-E6D70188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上游物理门已经足够终止链条。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21AFA-6CB4-430A-9DC1-8403BEEE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49720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67D71-18E6-4F65-94B6-B1F0CB6D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762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6EC0C-94E3-4525-A474-31DAB874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514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SIM10 · INFEASIBLE_RATE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ED893-7E51-48D7-A251-1A11FF6B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4514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post-capture rate = 3.0633304946°·s⁻¹
frozen gate = 2.0°·s⁻¹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FA1A1-BB94-4925-B54C-152E61C1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49720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B1304F-0535-4714-B8F7-A9C41B5F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762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3E6507-8359-49CA-9554-320B1DF6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4514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964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SIM12 · all strategies infeasible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E9733-4A57-43EA-A6D2-7368FB9F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4514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不创建 SAFE 请求；CTRL-02 的 B 行仅保留 COUNTERFACTUAL_ONLY。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4162F-1C47-4871-98A1-1B7D0413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5619750" cy="4400550"/>
          </a:xfrm>
          <a:prstGeom xmlns:a="http://schemas.openxmlformats.org/drawingml/2006/main" prst="roundRect">
            <a:avLst>
              <a:gd name="adj" fmla="val 1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DF36A1-37A9-4910-82B9-88531E7D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81150"/>
            <a:ext cx="514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877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SIM10 冻结可行域（B anchor 为 exact row）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c8df8d2687449b"/>
          <a:stretch xmlns:a="http://schemas.openxmlformats.org/drawingml/2006/main"/>
        </p:blipFill>
        <p:spPr>
          <a:xfrm xmlns:a="http://schemas.openxmlformats.org/drawingml/2006/main">
            <a:off x="6200775" y="2960926"/>
            <a:ext cx="5219700" cy="1679097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4002FA-B83C-4D35-895D-E4B18B37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38725"/>
            <a:ext cx="19526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B8C0F9-D119-445E-8990-5B2E1070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114925"/>
            <a:ext cx="1676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B anchor · ABORT</a:t>
            </a:r>
          </a:p>
        </p:txBody>
      </p:sp>
    </p:spTree>
    <p:extLst>
      <p:ext uri="{BB962C8B-B14F-4D97-AF65-F5344CB8AC3E}">
        <p14:creationId xmlns:p14="http://schemas.microsoft.com/office/powerpoint/2010/main" val="9565953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0C3B78-6C8A-4149-9444-489869C8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55D61-2140-46F7-BC85-F89BECD9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334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76FF"/>
                </a:solidFill>
                <a:latin typeface="Microsoft YaHei"/>
                <a:ea typeface="Microsoft YaHei"/>
                <a:cs typeface="Microsoft YaHei"/>
              </a:defRPr>
            </a:pPr>
            <a:r>
              <a:t>MISSION INTELLIGENCE / VERIFIED ARTIFACTS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9BFDB-E3D0-430F-8A3E-3AC5155B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场景 C：约束切换 → MODIFY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552450" y="6229350"/>
            <a:ext cx="110871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E0EA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0A6E7-2335-4379-99F1-69B02D4E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00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OFFLINE EVIDENCE REPLAY  ·  NO REAL-TIME SYNCHRONIZATION  ·  NO COMMAND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BDAFF-5FBD-495E-B3AB-EBC3EC01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28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DF342-31F4-4049-9B3C-9949870D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5448300" cy="4552950"/>
          </a:xfrm>
          <a:prstGeom xmlns:a="http://schemas.openxmlformats.org/drawingml/2006/main" prst="roundRect">
            <a:avLst>
              <a:gd name="adj" fmla="val 16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EB306-A830-452D-9F10-C13F38AB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策略轮动：wheel margin（N·m·s）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C51DE-7F8C-435D-BA87-799048F9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28750"/>
            <a:ext cx="52006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1A56E-89D6-4E91-837E-FEC84D79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28750"/>
            <a:ext cx="76200" cy="1276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0D8B2-7FD6-4DF2-A1F6-A551B35C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00200"/>
            <a:ext cx="4743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S1 · BLOCKED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42AB0-53BB-401A-B4BD-2CE1CBFC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38350"/>
            <a:ext cx="4743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WHEEL_MOMENTUM 绑定；margin = −0.068886 N·m·s。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E106A-EB1B-43B4-8267-0E6577FD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24175"/>
            <a:ext cx="52006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79B76-5644-41FF-AE6E-D260F3EA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24175"/>
            <a:ext cx="76200" cy="1276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D72A95-6228-47EB-BCF0-19F05E1C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95625"/>
            <a:ext cx="4743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S3a · FEASIBLE / selected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DD3928-D67C-4491-BDF7-37FAAAB3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33775"/>
            <a:ext cx="4743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wheel-bias 后 margin = +0.231114 N·m·s；展示动作变为 MODIFY。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847FB-E119-4E2E-BFB5-7840A523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19600"/>
            <a:ext cx="52006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1BC08F-702B-48A0-8C4D-78EC2F21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196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7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183762-3028-43AF-97AF-95293546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91050"/>
            <a:ext cx="4743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仍未授权执行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946AA1-A281-4203-BAD3-3C8972AD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29200"/>
            <a:ext cx="4743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384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SAFE registered candidate 缺失；CTRL-02 只作 REFERENCE_ONLY。MODIFY ≠ authorized execution。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752475" y="2085975"/>
          <a:ext xmlns:a="http://schemas.openxmlformats.org/drawingml/2006/main" cx="4857750" cy="3352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6975bc5ccf4f4f"/>
          </a:graphicData>
        </a:graphic>
      </p:graphicFrame>
    </p:spTree>
    <p:extLst>
      <p:ext uri="{BB962C8B-B14F-4D97-AF65-F5344CB8AC3E}">
        <p14:creationId xmlns:p14="http://schemas.microsoft.com/office/powerpoint/2010/main" val="2790281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C83F1-447C-4114-8D67-404C74EF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F7346-61CB-468C-899F-F79B7227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334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76FF"/>
                </a:solidFill>
                <a:latin typeface="Microsoft YaHei"/>
                <a:ea typeface="Microsoft YaHei"/>
                <a:cs typeface="Microsoft YaHei"/>
              </a:defRPr>
            </a:pPr>
            <a:r>
              <a:t>MISSION INTELLIGENCE / VERIFIED ARTIFACTS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569FA-D277-4C6F-A7E9-F8C36C71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统一证据合同：只读、可追溯、失败封闭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552450" y="6229350"/>
            <a:ext cx="110871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E0EA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1861C-40D5-433C-826A-B604F111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00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OFFLINE EVIDENCE REPLAY  ·  NO REAL-TIME SYNCHRONIZATION  ·  NO COMMAND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44FAB-4A3C-4374-835C-53E0409F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28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24A2A-7684-466B-A198-742F4491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4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Machine Gate JSON &gt; raw results &gt; tests &gt; Git &gt; reports。媒体从不反向覆盖科学裁决。</a:t>
            </a:r>
          </a:p>
        </p:txBody>
      </p:sp>
      <p:graphicFrame>
        <p:nvGraphicFramePr>
          <p:cNvPr id="19" name="evidence-contract-table"/>
          <p:cNvGraphicFramePr/>
          <p:nvPr/>
        </p:nvGraphicFramePr>
        <p:xfrm>
          <a:off xmlns:a="http://schemas.openxmlformats.org/drawingml/2006/main" x="552450" y="1924050"/>
          <a:ext xmlns:a="http://schemas.openxmlformats.org/drawingml/2006/main" cx="11096625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2333625"/>
                <a:gridCol w="2333625"/>
                <a:gridCol w="2238375"/>
                <a:gridCol w="3048000"/>
              </a:tblGrid>
              <a:tr h="606425">
                <a:tc>
                  <a:txBody>
                    <a:bodyPr/>
                    <a:lstStyle/>
                    <a:p>
                      <a:r>
                        <a:t>阶段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Join 级别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原生真值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Replay 使用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Fail-closed</a:t>
                      </a:r>
                    </a:p>
                  </a:txBody>
                  <a:tcPr marL="91440" marR="91440" marT="45720" marB="45720"/>
                </a:tc>
              </a:tr>
              <a:tr h="606425">
                <a:tc>
                  <a:txBody>
                    <a:bodyPr/>
                    <a:lstStyle/>
                    <a:p>
                      <a:r>
                        <a:t>SIM10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B=EXACT；</a:t>
                      </a:r>
                    </a:p>
                    <a:p>
                      <a:r>
                        <a:t>A/C=GLOBAL_ONLY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SIM10_GATES_PASS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可行域/上游终止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无 exact row 不伪造</a:t>
                      </a:r>
                    </a:p>
                  </a:txBody>
                  <a:tcPr marL="91440" marR="91440" marT="45720" marB="45720"/>
                </a:tc>
              </a:tr>
              <a:tr h="606425">
                <a:tc>
                  <a:txBody>
                    <a:bodyPr/>
                    <a:lstStyle/>
                    <a:p>
                      <a:r>
                        <a:t>SIM12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EXACT case+strategy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PHASE1_GATES_PASS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策略与 binding gate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不可行即 ABORT/MODIFY</a:t>
                      </a:r>
                    </a:p>
                  </a:txBody>
                  <a:tcPr marL="91440" marR="91440" marT="45720" marB="45720"/>
                </a:tc>
              </a:tr>
              <a:tr h="606425">
                <a:tc>
                  <a:txBody>
                    <a:bodyPr/>
                    <a:lstStyle/>
                    <a:p>
                      <a:r>
                        <a:t>SAFE-00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仅 A exact candidate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 · PENDING_REVIEW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保留 native decision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 缺候选；B 不请求</a:t>
                      </a:r>
                    </a:p>
                  </a:txBody>
                  <a:tcPr marL="91440" marR="91440" marT="45720" marB="45720"/>
                </a:tc>
              </a:tr>
              <a:tr h="606425">
                <a:tc>
                  <a:txBody>
                    <a:bodyPr/>
                    <a:lstStyle/>
                    <a:p>
                      <a:r>
                        <a:t>CTRL-02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 exact / C reference /</a:t>
                      </a:r>
                    </a:p>
                    <a:p>
                      <a:r>
                        <a:t>B counterfactual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PASS_WITH_</a:t>
                      </a:r>
                    </a:p>
                    <a:p>
                      <a:r>
                        <a:t>PROVISIONAL_SCOPE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姿态/资源解释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不扩 SIM10 可行域</a:t>
                      </a:r>
                    </a:p>
                  </a:txBody>
                  <a:tcPr marL="91440" marR="91440" marT="45720" marB="45720"/>
                </a:tc>
              </a:tr>
              <a:tr h="606425">
                <a:tc>
                  <a:txBody>
                    <a:bodyPr/>
                    <a:lstStyle/>
                    <a:p>
                      <a:r>
                        <a:t>PPT / 视频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source ref + raw hash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解释层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离线重放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COMMAND OUTPUT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DBE69-1F6B-4E55-B6CB-38F22DE7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76900"/>
            <a:ext cx="11096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93643-2AE2-4FEA-8550-6E0017D7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76900"/>
            <a:ext cx="76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67A9E-CC01-4220-8591-F7A0C2CB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81675"/>
            <a:ext cx="1057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UNKNOWN / REPEAT / PROVISIONAL / PENDING_REVIEW 永不提升为 SUCCESS 或 EXECUTE</a:t>
            </a:r>
          </a:p>
        </p:txBody>
      </p:sp>
    </p:spTree>
    <p:extLst>
      <p:ext uri="{BB962C8B-B14F-4D97-AF65-F5344CB8AC3E}">
        <p14:creationId xmlns:p14="http://schemas.microsoft.com/office/powerpoint/2010/main" val="4223509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F48A28-8D12-48F7-A95F-6E54792C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0DA2B-7D4B-40CC-9ED7-D45BB57C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334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76FF"/>
                </a:solidFill>
                <a:latin typeface="Microsoft YaHei"/>
                <a:ea typeface="Microsoft YaHei"/>
                <a:cs typeface="Microsoft YaHei"/>
              </a:defRPr>
            </a:pPr>
            <a:r>
              <a:t>MISSION INTELLIGENCE / VERIFIED ARTIFACTS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190D2-E94D-40AA-82BF-2CC74FFC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演示边界：当前范围 DT2，而非实时数字孪生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552450" y="6229350"/>
            <a:ext cx="110871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E0EA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7BE67-E000-4F2F-9BFE-114BD528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00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OFFLINE EVIDENCE REPLAY  ·  NO REAL-TIME SYNCHRONIZATION  ·  NO COMMAND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5F34D-FF30-4524-B44C-5ED50BB6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28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9ED2A-442F-4974-B917-9321708E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8B57"/>
                </a:solidFill>
                <a:latin typeface="Microsoft YaHei"/>
                <a:ea typeface="Microsoft YaHei"/>
                <a:cs typeface="Microsoft YaHei"/>
              </a:defRPr>
            </a:pPr>
            <a:r>
              <a:t>我们可以证明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65351-B591-4A75-8A3F-FBD8BA04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09700"/>
            <a:ext cx="466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4C4C"/>
                </a:solidFill>
                <a:latin typeface="Microsoft YaHei"/>
                <a:ea typeface="Microsoft YaHei"/>
                <a:cs typeface="Microsoft YaHei"/>
              </a:defRPr>
            </a:pPr>
            <a:r>
              <a:t>我们明确不声称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B60A1-7091-4F5A-832D-941BEFC4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24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B5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C0F49-83AE-482D-8C00-589B63A1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verified artifacts 驱动的确定性离线回放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FD868-DBC1-42DE-9DA7-96FF7224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24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4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F3336-85FB-45D9-ADB7-3F11BEF9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764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real-time synchronization / hardware twin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B69CB-AD03-447A-984D-8B5D38E4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B5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E5AD0-24E2-4D9E-B7B1-7B68F997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A/B/C 行动解释与 source hash 回溯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284E3-7B13-4657-B929-E9CC8A2A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09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4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FA28B-DB87-43E9-9C9A-7132C774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622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flight-qualified safety 或真实执行权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FCA33-C968-4375-83EF-A0CC16D5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956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B5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718392-F09A-455E-9042-112B951D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307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SAFE 原生决策、PENDING 与 provisional 字段保留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164D76-77EA-48B8-9AF7-6FB513A2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956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4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C37B86-ECBA-4C39-BB71-1FF2C85B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480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free-floating hardware 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B951E2-3DAE-4A07-87AD-CB37CF39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81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B5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019E9E-DB13-48D7-B174-0D6B63C7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338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媒体和科学 Gate 完全分离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7BD8D8-953E-4EE8-A644-ACCF5BDE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81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4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3B573F-EF83-4CFD-9D1E-2A8EC2E0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338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completed autonomous on-orbit assembly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1CB1D2-2C1A-4C53-9286-C686488B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10668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0EE358-B7F1-4825-9AFF-570B2388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7620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33874F-ED8A-4CDA-90A3-04CB4155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10210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Assembly / hardware 状态独立呈现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DF993C-73C9-4659-A151-26B71B77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10210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ASM-00: BLOCKED_BY_MISSING_PARAMETERS · ASM-01/02: NOT_STARTED
H0/H1/H2: NOT_STARTED · HAG-E missing · B601 motion prohibited · 主链独立</a:t>
            </a:r>
          </a:p>
        </p:txBody>
      </p:sp>
    </p:spTree>
    <p:extLst>
      <p:ext uri="{BB962C8B-B14F-4D97-AF65-F5344CB8AC3E}">
        <p14:creationId xmlns:p14="http://schemas.microsoft.com/office/powerpoint/2010/main" val="3340785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7DA38-7CF6-4BE7-A884-A2134FB6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20A3B-A95C-49DE-B84C-7D633EDC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76FF"/>
                </a:solidFill>
                <a:latin typeface="Microsoft YaHei"/>
                <a:ea typeface="Microsoft YaHei"/>
                <a:cs typeface="Microsoft YaHei"/>
              </a:defRPr>
            </a:pPr>
            <a:r>
              <a:t>FINAL MACHINE VERDICT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AEB12-ACEB-4B26-997B-AD36B0A5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076325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78B57"/>
                </a:solidFill>
                <a:latin typeface="Microsoft YaHei"/>
                <a:ea typeface="Microsoft YaHei"/>
                <a:cs typeface="Microsoft YaHei"/>
              </a:defRPr>
            </a:pPr>
            <a:r>
              <a:t>COMPETITION_DEMO_READY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30369-C6E4-480D-B74B-638EA70E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857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icrosoft YaHei"/>
                <a:ea typeface="Microsoft YaHei"/>
                <a:cs typeface="Microsoft YaHei"/>
              </a:defRPr>
            </a:pPr>
            <a:r>
              <a:t>A  EXECUTE   ·   B  ABORT   ·   C  MODIFY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F8F8D-ED82-4221-9AB3-AE81B2EF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81550"/>
            <a:ext cx="952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t>ASM00_BLOCKED_BY_MISSING_PARAMETERS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C6DDE-0B32-4470-A300-A924E3C5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0191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Offline replay only · Provisional and pending states remain visible · No command emitted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73103-74C5-4F36-85A2-FFC898CF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865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36251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2026-07-20T15:34:55.8720000Z</dcterms:created>
  <dcterms:modified xsi:type="dcterms:W3CDTF">2026-07-20T15:34:55.8720000Z</dcterms:modified>
</coreProperties>
</file>